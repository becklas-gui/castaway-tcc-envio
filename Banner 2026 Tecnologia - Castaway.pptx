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778200" cy="32385000"/>
  <p:notesSz cx="6858000" cy="9144000"/>
  <p:embeddedFontLst>
    <p:embeddedFont>
      <p:font typeface="Arial" panose="020B0604020202020204" pitchFamily="34" charset="0"/>
      <p:regular r:id="rId3"/>
    </p:embeddedFont>
    <p:embeddedFont>
      <p:font typeface="Nasalization" panose="020B0604020202020204" charset="0"/>
      <p:regular r:id="rId4"/>
    </p:embeddedFont>
    <p:embeddedFont>
      <p:font typeface="ITC Franklin Gothic LT Semi-Bold" panose="020B0604020202020204" charset="0"/>
      <p:regular r:id="rId5"/>
    </p:embeddedFont>
    <p:embeddedFont>
      <p:font typeface="Apto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hau Philomen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2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setembroamarelo.com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agenciabrasil.ebc.com.br/saude/noticia/2024-02/fiocruz-alerta-para-aumento-da-taxa-de-suicidio-entre-crianca-e-jov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66494" y="18282738"/>
            <a:ext cx="6786540" cy="3839817"/>
            <a:chOff x="0" y="0"/>
            <a:chExt cx="18347583" cy="10381044"/>
          </a:xfrm>
        </p:grpSpPr>
        <p:sp>
          <p:nvSpPr>
            <p:cNvPr id="3" name="Freeform 3" descr="Resultado de imagem para radar velocidade"/>
            <p:cNvSpPr/>
            <p:nvPr/>
          </p:nvSpPr>
          <p:spPr>
            <a:xfrm>
              <a:off x="0" y="0"/>
              <a:ext cx="18347596" cy="10381107"/>
            </a:xfrm>
            <a:custGeom>
              <a:avLst/>
              <a:gdLst/>
              <a:ahLst/>
              <a:cxnLst/>
              <a:rect l="l" t="t" r="r" b="b"/>
              <a:pathLst>
                <a:path w="18347596" h="10381107">
                  <a:moveTo>
                    <a:pt x="0" y="0"/>
                  </a:moveTo>
                  <a:lnTo>
                    <a:pt x="18347596" y="0"/>
                  </a:lnTo>
                  <a:lnTo>
                    <a:pt x="18347596" y="10381107"/>
                  </a:lnTo>
                  <a:lnTo>
                    <a:pt x="0" y="10381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966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466494" y="22417830"/>
            <a:ext cx="6832691" cy="3865930"/>
            <a:chOff x="0" y="0"/>
            <a:chExt cx="9612288" cy="5438623"/>
          </a:xfrm>
        </p:grpSpPr>
        <p:sp>
          <p:nvSpPr>
            <p:cNvPr id="5" name="Freeform 5" descr="Resultado de imagem para radar velocidade"/>
            <p:cNvSpPr/>
            <p:nvPr/>
          </p:nvSpPr>
          <p:spPr>
            <a:xfrm>
              <a:off x="0" y="0"/>
              <a:ext cx="9612351" cy="5438648"/>
            </a:xfrm>
            <a:custGeom>
              <a:avLst/>
              <a:gdLst/>
              <a:ahLst/>
              <a:cxnLst/>
              <a:rect l="l" t="t" r="r" b="b"/>
              <a:pathLst>
                <a:path w="9612351" h="5438648">
                  <a:moveTo>
                    <a:pt x="0" y="0"/>
                  </a:moveTo>
                  <a:lnTo>
                    <a:pt x="9612351" y="0"/>
                  </a:lnTo>
                  <a:lnTo>
                    <a:pt x="9612351" y="5438648"/>
                  </a:lnTo>
                  <a:lnTo>
                    <a:pt x="0" y="5438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943" b="-894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557990" y="7959039"/>
            <a:ext cx="14009347" cy="5338829"/>
            <a:chOff x="0" y="0"/>
            <a:chExt cx="1318624" cy="9318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8624" cy="931810"/>
            </a:xfrm>
            <a:custGeom>
              <a:avLst/>
              <a:gdLst/>
              <a:ahLst/>
              <a:cxnLst/>
              <a:rect l="l" t="t" r="r" b="b"/>
              <a:pathLst>
                <a:path w="1318624" h="931810">
                  <a:moveTo>
                    <a:pt x="28184" y="0"/>
                  </a:moveTo>
                  <a:lnTo>
                    <a:pt x="1290440" y="0"/>
                  </a:lnTo>
                  <a:cubicBezTo>
                    <a:pt x="1306005" y="0"/>
                    <a:pt x="1318624" y="12618"/>
                    <a:pt x="1318624" y="28184"/>
                  </a:cubicBezTo>
                  <a:lnTo>
                    <a:pt x="1318624" y="903626"/>
                  </a:lnTo>
                  <a:cubicBezTo>
                    <a:pt x="1318624" y="911101"/>
                    <a:pt x="1315654" y="918270"/>
                    <a:pt x="1310369" y="923555"/>
                  </a:cubicBezTo>
                  <a:cubicBezTo>
                    <a:pt x="1305083" y="928841"/>
                    <a:pt x="1297915" y="931810"/>
                    <a:pt x="1290440" y="931810"/>
                  </a:cubicBezTo>
                  <a:lnTo>
                    <a:pt x="28184" y="931810"/>
                  </a:lnTo>
                  <a:cubicBezTo>
                    <a:pt x="12618" y="931810"/>
                    <a:pt x="0" y="919192"/>
                    <a:pt x="0" y="903626"/>
                  </a:cubicBezTo>
                  <a:lnTo>
                    <a:pt x="0" y="28184"/>
                  </a:lnTo>
                  <a:cubicBezTo>
                    <a:pt x="0" y="12618"/>
                    <a:pt x="12618" y="0"/>
                    <a:pt x="28184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18624" cy="950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188" y="163068"/>
            <a:ext cx="28493380" cy="7638428"/>
            <a:chOff x="0" y="0"/>
            <a:chExt cx="2681986" cy="718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81986" cy="718960"/>
            </a:xfrm>
            <a:custGeom>
              <a:avLst/>
              <a:gdLst/>
              <a:ahLst/>
              <a:cxnLst/>
              <a:rect l="l" t="t" r="r" b="b"/>
              <a:pathLst>
                <a:path w="2681986" h="718960">
                  <a:moveTo>
                    <a:pt x="2681986" y="13314"/>
                  </a:moveTo>
                  <a:lnTo>
                    <a:pt x="2681986" y="705646"/>
                  </a:lnTo>
                  <a:cubicBezTo>
                    <a:pt x="2681986" y="712999"/>
                    <a:pt x="2676025" y="718960"/>
                    <a:pt x="2668672" y="718960"/>
                  </a:cubicBezTo>
                  <a:lnTo>
                    <a:pt x="13314" y="718960"/>
                  </a:lnTo>
                  <a:cubicBezTo>
                    <a:pt x="5961" y="718960"/>
                    <a:pt x="0" y="712999"/>
                    <a:pt x="0" y="705646"/>
                  </a:cubicBezTo>
                  <a:lnTo>
                    <a:pt x="0" y="13314"/>
                  </a:lnTo>
                  <a:cubicBezTo>
                    <a:pt x="0" y="5961"/>
                    <a:pt x="5961" y="0"/>
                    <a:pt x="13314" y="0"/>
                  </a:cubicBezTo>
                  <a:lnTo>
                    <a:pt x="2668672" y="0"/>
                  </a:lnTo>
                  <a:cubicBezTo>
                    <a:pt x="2676025" y="0"/>
                    <a:pt x="2681986" y="5961"/>
                    <a:pt x="2681986" y="13314"/>
                  </a:cubicBezTo>
                  <a:close/>
                </a:path>
              </a:pathLst>
            </a:custGeom>
            <a:ln w="9525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681986" cy="738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197673" y="773114"/>
            <a:ext cx="4964531" cy="2614653"/>
          </a:xfrm>
          <a:custGeom>
            <a:avLst/>
            <a:gdLst/>
            <a:ahLst/>
            <a:cxnLst/>
            <a:rect l="l" t="t" r="r" b="b"/>
            <a:pathLst>
              <a:path w="4964531" h="2614653">
                <a:moveTo>
                  <a:pt x="0" y="0"/>
                </a:moveTo>
                <a:lnTo>
                  <a:pt x="4964531" y="0"/>
                </a:lnTo>
                <a:lnTo>
                  <a:pt x="4964531" y="2614653"/>
                </a:lnTo>
                <a:lnTo>
                  <a:pt x="0" y="261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426353" y="5906735"/>
            <a:ext cx="27761659" cy="0"/>
          </a:xfrm>
          <a:prstGeom prst="line">
            <a:avLst/>
          </a:prstGeom>
          <a:ln w="76200" cap="flat">
            <a:gradFill>
              <a:gsLst>
                <a:gs pos="0">
                  <a:srgbClr val="545454">
                    <a:alpha val="100000"/>
                  </a:srgbClr>
                </a:gs>
                <a:gs pos="100000">
                  <a:srgbClr val="82828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305702" y="439964"/>
            <a:ext cx="7905312" cy="4190421"/>
            <a:chOff x="0" y="0"/>
            <a:chExt cx="10540416" cy="5587228"/>
          </a:xfrm>
        </p:grpSpPr>
        <p:sp>
          <p:nvSpPr>
            <p:cNvPr id="15" name="Freeform 15"/>
            <p:cNvSpPr/>
            <p:nvPr/>
          </p:nvSpPr>
          <p:spPr>
            <a:xfrm>
              <a:off x="2986101" y="845454"/>
              <a:ext cx="7554315" cy="3320201"/>
            </a:xfrm>
            <a:custGeom>
              <a:avLst/>
              <a:gdLst/>
              <a:ahLst/>
              <a:cxnLst/>
              <a:rect l="l" t="t" r="r" b="b"/>
              <a:pathLst>
                <a:path w="7554315" h="3320201">
                  <a:moveTo>
                    <a:pt x="0" y="0"/>
                  </a:moveTo>
                  <a:lnTo>
                    <a:pt x="7554315" y="0"/>
                  </a:lnTo>
                  <a:lnTo>
                    <a:pt x="7554315" y="3320201"/>
                  </a:lnTo>
                  <a:lnTo>
                    <a:pt x="0" y="332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418" t="-60408" r="-256798" b="-495179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flipH="1">
              <a:off x="0" y="0"/>
              <a:ext cx="2986101" cy="4583098"/>
            </a:xfrm>
            <a:custGeom>
              <a:avLst/>
              <a:gdLst/>
              <a:ahLst/>
              <a:cxnLst/>
              <a:rect l="l" t="t" r="r" b="b"/>
              <a:pathLst>
                <a:path w="2986101" h="4583098">
                  <a:moveTo>
                    <a:pt x="2986101" y="0"/>
                  </a:moveTo>
                  <a:lnTo>
                    <a:pt x="0" y="0"/>
                  </a:lnTo>
                  <a:lnTo>
                    <a:pt x="0" y="4583098"/>
                  </a:lnTo>
                  <a:lnTo>
                    <a:pt x="2986101" y="4583098"/>
                  </a:lnTo>
                  <a:lnTo>
                    <a:pt x="2986101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636426" y="3578969"/>
              <a:ext cx="2012452" cy="2008259"/>
            </a:xfrm>
            <a:custGeom>
              <a:avLst/>
              <a:gdLst/>
              <a:ahLst/>
              <a:cxnLst/>
              <a:rect l="l" t="t" r="r" b="b"/>
              <a:pathLst>
                <a:path w="2012452" h="2008259">
                  <a:moveTo>
                    <a:pt x="0" y="0"/>
                  </a:moveTo>
                  <a:lnTo>
                    <a:pt x="2012451" y="0"/>
                  </a:lnTo>
                  <a:lnTo>
                    <a:pt x="2012451" y="2008259"/>
                  </a:lnTo>
                  <a:lnTo>
                    <a:pt x="0" y="200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7000"/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6137929" y="3861658"/>
            <a:ext cx="2024275" cy="1717738"/>
            <a:chOff x="0" y="0"/>
            <a:chExt cx="190500" cy="1616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500" cy="161671"/>
            </a:xfrm>
            <a:custGeom>
              <a:avLst/>
              <a:gdLst/>
              <a:ahLst/>
              <a:cxnLst/>
              <a:rect l="l" t="t" r="r" b="b"/>
              <a:pathLst>
                <a:path w="190500" h="161671">
                  <a:moveTo>
                    <a:pt x="190500" y="80836"/>
                  </a:moveTo>
                  <a:lnTo>
                    <a:pt x="190500" y="80836"/>
                  </a:lnTo>
                  <a:cubicBezTo>
                    <a:pt x="190500" y="102274"/>
                    <a:pt x="181983" y="122835"/>
                    <a:pt x="166824" y="137995"/>
                  </a:cubicBezTo>
                  <a:cubicBezTo>
                    <a:pt x="151664" y="153154"/>
                    <a:pt x="131103" y="161671"/>
                    <a:pt x="109665" y="161671"/>
                  </a:cubicBezTo>
                  <a:lnTo>
                    <a:pt x="80836" y="161671"/>
                  </a:lnTo>
                  <a:cubicBezTo>
                    <a:pt x="36191" y="161671"/>
                    <a:pt x="0" y="125480"/>
                    <a:pt x="0" y="80836"/>
                  </a:cubicBezTo>
                  <a:lnTo>
                    <a:pt x="0" y="80836"/>
                  </a:lnTo>
                  <a:cubicBezTo>
                    <a:pt x="0" y="36191"/>
                    <a:pt x="36191" y="0"/>
                    <a:pt x="80836" y="0"/>
                  </a:cubicBezTo>
                  <a:lnTo>
                    <a:pt x="109665" y="0"/>
                  </a:lnTo>
                  <a:cubicBezTo>
                    <a:pt x="154309" y="0"/>
                    <a:pt x="190500" y="36191"/>
                    <a:pt x="190500" y="80836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90500" cy="180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7820" y="4305561"/>
            <a:ext cx="7905312" cy="1260087"/>
            <a:chOff x="0" y="0"/>
            <a:chExt cx="744084" cy="1186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4084" cy="118605"/>
            </a:xfrm>
            <a:custGeom>
              <a:avLst/>
              <a:gdLst/>
              <a:ahLst/>
              <a:cxnLst/>
              <a:rect l="l" t="t" r="r" b="b"/>
              <a:pathLst>
                <a:path w="744084" h="118605">
                  <a:moveTo>
                    <a:pt x="27421" y="0"/>
                  </a:moveTo>
                  <a:lnTo>
                    <a:pt x="716663" y="0"/>
                  </a:lnTo>
                  <a:cubicBezTo>
                    <a:pt x="723935" y="0"/>
                    <a:pt x="730910" y="2889"/>
                    <a:pt x="736053" y="8032"/>
                  </a:cubicBezTo>
                  <a:cubicBezTo>
                    <a:pt x="741195" y="13174"/>
                    <a:pt x="744084" y="20149"/>
                    <a:pt x="744084" y="27421"/>
                  </a:cubicBezTo>
                  <a:lnTo>
                    <a:pt x="744084" y="91184"/>
                  </a:lnTo>
                  <a:cubicBezTo>
                    <a:pt x="744084" y="98456"/>
                    <a:pt x="741195" y="105431"/>
                    <a:pt x="736053" y="110574"/>
                  </a:cubicBezTo>
                  <a:cubicBezTo>
                    <a:pt x="730910" y="115716"/>
                    <a:pt x="723935" y="118605"/>
                    <a:pt x="716663" y="118605"/>
                  </a:cubicBezTo>
                  <a:lnTo>
                    <a:pt x="27421" y="118605"/>
                  </a:lnTo>
                  <a:cubicBezTo>
                    <a:pt x="12277" y="118605"/>
                    <a:pt x="0" y="106328"/>
                    <a:pt x="0" y="91184"/>
                  </a:cubicBezTo>
                  <a:lnTo>
                    <a:pt x="0" y="27421"/>
                  </a:lnTo>
                  <a:cubicBezTo>
                    <a:pt x="0" y="12277"/>
                    <a:pt x="12277" y="0"/>
                    <a:pt x="27421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44084" cy="13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901" y="8187639"/>
            <a:ext cx="14075033" cy="9742673"/>
            <a:chOff x="0" y="0"/>
            <a:chExt cx="1324806" cy="9170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24806" cy="917025"/>
            </a:xfrm>
            <a:custGeom>
              <a:avLst/>
              <a:gdLst/>
              <a:ahLst/>
              <a:cxnLst/>
              <a:rect l="l" t="t" r="r" b="b"/>
              <a:pathLst>
                <a:path w="1324806" h="917025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888973"/>
                  </a:lnTo>
                  <a:cubicBezTo>
                    <a:pt x="1324806" y="896413"/>
                    <a:pt x="1321851" y="903548"/>
                    <a:pt x="1316590" y="908809"/>
                  </a:cubicBezTo>
                  <a:cubicBezTo>
                    <a:pt x="1311329" y="914069"/>
                    <a:pt x="1304194" y="917025"/>
                    <a:pt x="1296754" y="917025"/>
                  </a:cubicBezTo>
                  <a:lnTo>
                    <a:pt x="28052" y="917025"/>
                  </a:lnTo>
                  <a:cubicBezTo>
                    <a:pt x="12559" y="917025"/>
                    <a:pt x="0" y="904465"/>
                    <a:pt x="0" y="888973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324806" cy="93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27820" y="9025628"/>
            <a:ext cx="13589914" cy="592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Estudos apontam que os grupos mais afetados pela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depressão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atualmente são adolescentes e jovens adultos entre 13 e 20 anos, e que a maior parte do publico que joga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videogame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tem entre 14 e 29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Castaway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é um RPG de turno inspirado em outros jogos do mesmo gênero, como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Undertale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, que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busca abordar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temas como superação da depressão,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autorreflexão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 suicídio, na intenção de trazer conscientização sobre estes assuntos através dos elementos narrativos do jogo</a:t>
            </a: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2901" y="7959039"/>
            <a:ext cx="14081891" cy="974255"/>
            <a:chOff x="0" y="0"/>
            <a:chExt cx="1325452" cy="917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557990" y="7959039"/>
            <a:ext cx="14009347" cy="974255"/>
            <a:chOff x="0" y="0"/>
            <a:chExt cx="1318624" cy="9170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18624" cy="91701"/>
            </a:xfrm>
            <a:custGeom>
              <a:avLst/>
              <a:gdLst/>
              <a:ahLst/>
              <a:cxnLst/>
              <a:rect l="l" t="t" r="r" b="b"/>
              <a:pathLst>
                <a:path w="1318624" h="91701">
                  <a:moveTo>
                    <a:pt x="8842" y="0"/>
                  </a:moveTo>
                  <a:lnTo>
                    <a:pt x="1309782" y="0"/>
                  </a:lnTo>
                  <a:cubicBezTo>
                    <a:pt x="1314665" y="0"/>
                    <a:pt x="1318624" y="3959"/>
                    <a:pt x="1318624" y="8842"/>
                  </a:cubicBezTo>
                  <a:lnTo>
                    <a:pt x="1318624" y="82859"/>
                  </a:lnTo>
                  <a:cubicBezTo>
                    <a:pt x="1318624" y="87743"/>
                    <a:pt x="1314665" y="91701"/>
                    <a:pt x="1309782" y="91701"/>
                  </a:cubicBezTo>
                  <a:lnTo>
                    <a:pt x="8842" y="91701"/>
                  </a:lnTo>
                  <a:cubicBezTo>
                    <a:pt x="3959" y="91701"/>
                    <a:pt x="0" y="87743"/>
                    <a:pt x="0" y="82859"/>
                  </a:cubicBezTo>
                  <a:lnTo>
                    <a:pt x="0" y="8842"/>
                  </a:lnTo>
                  <a:cubicBezTo>
                    <a:pt x="0" y="3959"/>
                    <a:pt x="3959" y="0"/>
                    <a:pt x="8842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318624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188" y="18074378"/>
            <a:ext cx="14075033" cy="6347359"/>
            <a:chOff x="0" y="0"/>
            <a:chExt cx="1324806" cy="5974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24806" cy="597442"/>
            </a:xfrm>
            <a:custGeom>
              <a:avLst/>
              <a:gdLst/>
              <a:ahLst/>
              <a:cxnLst/>
              <a:rect l="l" t="t" r="r" b="b"/>
              <a:pathLst>
                <a:path w="1324806" h="597442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569390"/>
                  </a:lnTo>
                  <a:cubicBezTo>
                    <a:pt x="1324806" y="576830"/>
                    <a:pt x="1321851" y="583965"/>
                    <a:pt x="1316590" y="589226"/>
                  </a:cubicBezTo>
                  <a:cubicBezTo>
                    <a:pt x="1311329" y="594487"/>
                    <a:pt x="1304194" y="597442"/>
                    <a:pt x="1296754" y="597442"/>
                  </a:cubicBezTo>
                  <a:lnTo>
                    <a:pt x="28052" y="597442"/>
                  </a:lnTo>
                  <a:cubicBezTo>
                    <a:pt x="20612" y="597442"/>
                    <a:pt x="13477" y="594487"/>
                    <a:pt x="8216" y="589226"/>
                  </a:cubicBezTo>
                  <a:cubicBezTo>
                    <a:pt x="2956" y="583965"/>
                    <a:pt x="0" y="576830"/>
                    <a:pt x="0" y="569390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324806" cy="616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05702" y="19200910"/>
            <a:ext cx="13661722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objetivo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é trazer conscientização sobre problemas modernos como depressão e ansiedade através da narrativa contada no jogo;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E, ao identificar-se, fazer o jogador refletir sobre seus próprios problemas e inseguranças, perceber se necessita de alguma ajuda psicológica e buscá-la.</a:t>
            </a:r>
          </a:p>
          <a:p>
            <a:pPr algn="just">
              <a:lnSpc>
                <a:spcPts val="4199"/>
              </a:lnSpc>
            </a:pPr>
            <a:endParaRPr lang="en-US" sz="34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02901" y="18063663"/>
            <a:ext cx="14081891" cy="974255"/>
            <a:chOff x="0" y="0"/>
            <a:chExt cx="1325452" cy="9170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93565" y="18122003"/>
            <a:ext cx="607803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OBJETIVOS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2901" y="24622952"/>
            <a:ext cx="14075033" cy="6501138"/>
            <a:chOff x="0" y="0"/>
            <a:chExt cx="1324806" cy="61191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24806" cy="611917"/>
            </a:xfrm>
            <a:custGeom>
              <a:avLst/>
              <a:gdLst/>
              <a:ahLst/>
              <a:cxnLst/>
              <a:rect l="l" t="t" r="r" b="b"/>
              <a:pathLst>
                <a:path w="1324806" h="611917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583864"/>
                  </a:lnTo>
                  <a:cubicBezTo>
                    <a:pt x="1324806" y="591304"/>
                    <a:pt x="1321851" y="598440"/>
                    <a:pt x="1316590" y="603700"/>
                  </a:cubicBezTo>
                  <a:cubicBezTo>
                    <a:pt x="1311329" y="608961"/>
                    <a:pt x="1304194" y="611917"/>
                    <a:pt x="1296754" y="611917"/>
                  </a:cubicBezTo>
                  <a:lnTo>
                    <a:pt x="28052" y="611917"/>
                  </a:lnTo>
                  <a:cubicBezTo>
                    <a:pt x="12559" y="611917"/>
                    <a:pt x="0" y="599357"/>
                    <a:pt x="0" y="583864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324806" cy="63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613" y="24612237"/>
            <a:ext cx="14081891" cy="974255"/>
            <a:chOff x="0" y="0"/>
            <a:chExt cx="1325452" cy="9170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480782" y="26772849"/>
            <a:ext cx="14075033" cy="4351241"/>
            <a:chOff x="0" y="0"/>
            <a:chExt cx="1324806" cy="40955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24806" cy="409559"/>
            </a:xfrm>
            <a:custGeom>
              <a:avLst/>
              <a:gdLst/>
              <a:ahLst/>
              <a:cxnLst/>
              <a:rect l="l" t="t" r="r" b="b"/>
              <a:pathLst>
                <a:path w="1324806" h="409559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381506"/>
                  </a:lnTo>
                  <a:cubicBezTo>
                    <a:pt x="1324806" y="388946"/>
                    <a:pt x="1321851" y="396081"/>
                    <a:pt x="1316590" y="401342"/>
                  </a:cubicBezTo>
                  <a:cubicBezTo>
                    <a:pt x="1311329" y="406603"/>
                    <a:pt x="1304194" y="409559"/>
                    <a:pt x="1296754" y="409559"/>
                  </a:cubicBezTo>
                  <a:lnTo>
                    <a:pt x="28052" y="409559"/>
                  </a:lnTo>
                  <a:cubicBezTo>
                    <a:pt x="12559" y="409559"/>
                    <a:pt x="0" y="396999"/>
                    <a:pt x="0" y="381506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324806" cy="428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466494" y="26762133"/>
            <a:ext cx="14081891" cy="974255"/>
            <a:chOff x="0" y="0"/>
            <a:chExt cx="1325452" cy="9170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386257" y="8030558"/>
            <a:ext cx="493666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RESUMO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981156" y="3974283"/>
            <a:ext cx="2337821" cy="15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80"/>
              </a:lnSpc>
              <a:spcBef>
                <a:spcPct val="0"/>
              </a:spcBef>
            </a:pPr>
            <a:r>
              <a:rPr lang="en-US" sz="9900" dirty="0" smtClean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17</a:t>
            </a:r>
            <a:endParaRPr lang="en-US" sz="9900" dirty="0">
              <a:solidFill>
                <a:srgbClr val="FFFFFF"/>
              </a:solidFill>
              <a:latin typeface="Chau Philomene"/>
              <a:ea typeface="Chau Philomene"/>
              <a:cs typeface="Chau Philomene"/>
              <a:sym typeface="Chau Philomene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400545" y="6022848"/>
            <a:ext cx="27761659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Integrantes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: Gabriel 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Honónrio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6000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• 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Guilherme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Becklas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• Pedro </a:t>
            </a:r>
            <a:r>
              <a:rPr lang="en-US" sz="6000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B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ragante</a:t>
            </a:r>
            <a:endParaRPr lang="en-US" sz="6000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26353" y="6859235"/>
            <a:ext cx="2771004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4999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Orientadores</a:t>
            </a: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: Profs. </a:t>
            </a:r>
            <a:r>
              <a:rPr lang="en-US" sz="4999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Leonardo </a:t>
            </a:r>
            <a:r>
              <a:rPr lang="en-US" sz="4999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Arruda</a:t>
            </a:r>
            <a:r>
              <a:rPr lang="en-US" sz="4999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e Rafael Cruz</a:t>
            </a:r>
            <a:endParaRPr lang="en-US" sz="4999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516694" y="2509978"/>
            <a:ext cx="14211479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smtClean="0">
                <a:solidFill>
                  <a:srgbClr val="19191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Castaway</a:t>
            </a:r>
            <a:endParaRPr lang="en-US" sz="9000" b="1" dirty="0">
              <a:solidFill>
                <a:srgbClr val="191919"/>
              </a:solidFill>
              <a:latin typeface="ITC Franklin Gothic LT Semi-Bold"/>
              <a:ea typeface="ITC Franklin Gothic LT Semi-Bold"/>
              <a:cs typeface="ITC Franklin Gothic LT Semi-Bold"/>
              <a:sym typeface="ITC Franklin Gothic LT Semi-Bold"/>
            </a:endParaRPr>
          </a:p>
        </p:txBody>
      </p:sp>
      <p:grpSp>
        <p:nvGrpSpPr>
          <p:cNvPr id="60" name="Group 60"/>
          <p:cNvGrpSpPr/>
          <p:nvPr/>
        </p:nvGrpSpPr>
        <p:grpSpPr>
          <a:xfrm>
            <a:off x="160420" y="31422899"/>
            <a:ext cx="28406917" cy="934212"/>
            <a:chOff x="0" y="0"/>
            <a:chExt cx="37875889" cy="1245616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37875889" cy="1245616"/>
              <a:chOff x="0" y="0"/>
              <a:chExt cx="2673858" cy="8801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2673858" cy="88011"/>
              </a:xfrm>
              <a:custGeom>
                <a:avLst/>
                <a:gdLst/>
                <a:ahLst/>
                <a:cxnLst/>
                <a:rect l="l" t="t" r="r" b="b"/>
                <a:pathLst>
                  <a:path w="2673858" h="88011">
                    <a:moveTo>
                      <a:pt x="2673858" y="6813"/>
                    </a:moveTo>
                    <a:lnTo>
                      <a:pt x="2673858" y="81198"/>
                    </a:lnTo>
                    <a:cubicBezTo>
                      <a:pt x="2673858" y="83005"/>
                      <a:pt x="2673140" y="84738"/>
                      <a:pt x="2671862" y="86015"/>
                    </a:cubicBezTo>
                    <a:cubicBezTo>
                      <a:pt x="2670584" y="87293"/>
                      <a:pt x="2668851" y="88011"/>
                      <a:pt x="2667045" y="88011"/>
                    </a:cubicBezTo>
                    <a:lnTo>
                      <a:pt x="6813" y="88011"/>
                    </a:lnTo>
                    <a:cubicBezTo>
                      <a:pt x="3050" y="88011"/>
                      <a:pt x="0" y="84961"/>
                      <a:pt x="0" y="81198"/>
                    </a:cubicBezTo>
                    <a:lnTo>
                      <a:pt x="0" y="6813"/>
                    </a:lnTo>
                    <a:cubicBezTo>
                      <a:pt x="0" y="5006"/>
                      <a:pt x="718" y="3273"/>
                      <a:pt x="1996" y="1996"/>
                    </a:cubicBezTo>
                    <a:cubicBezTo>
                      <a:pt x="3273" y="718"/>
                      <a:pt x="5006" y="0"/>
                      <a:pt x="6813" y="0"/>
                    </a:cubicBezTo>
                    <a:lnTo>
                      <a:pt x="2667045" y="0"/>
                    </a:lnTo>
                    <a:cubicBezTo>
                      <a:pt x="2668851" y="0"/>
                      <a:pt x="2670584" y="718"/>
                      <a:pt x="2671862" y="1996"/>
                    </a:cubicBezTo>
                    <a:cubicBezTo>
                      <a:pt x="2673140" y="3273"/>
                      <a:pt x="2673858" y="5006"/>
                      <a:pt x="2673858" y="6813"/>
                    </a:cubicBezTo>
                    <a:close/>
                  </a:path>
                </a:pathLst>
              </a:custGeom>
              <a:ln w="95250" cap="rnd">
                <a:gradFill>
                  <a:gsLst>
                    <a:gs pos="0">
                      <a:srgbClr val="545454">
                        <a:alpha val="100000"/>
                      </a:srgbClr>
                    </a:gs>
                    <a:gs pos="100000">
                      <a:srgbClr val="828282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19050"/>
                <a:ext cx="2673858" cy="107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639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36068" y="146595"/>
              <a:ext cx="22297178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 spc="1615">
                  <a:solidFill>
                    <a:srgbClr val="1D1D1B"/>
                  </a:solidFill>
                  <a:latin typeface="Nasalization"/>
                  <a:ea typeface="Nasalization"/>
                  <a:cs typeface="Nasalization"/>
                  <a:sym typeface="Nasalization"/>
                </a:rPr>
                <a:t>BENTOTEC • ETEC Bento Quirino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0090338" y="146595"/>
              <a:ext cx="6684419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 spc="1615">
                  <a:solidFill>
                    <a:srgbClr val="1D1D1B"/>
                  </a:solidFill>
                  <a:latin typeface="Nasalization"/>
                  <a:ea typeface="Nasalization"/>
                  <a:cs typeface="Nasalization"/>
                  <a:sym typeface="Nasalization"/>
                </a:rPr>
                <a:t>@bentotec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4838550" y="8066519"/>
            <a:ext cx="9081637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METODOLOGIA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56012" y="25738892"/>
            <a:ext cx="13661722" cy="447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Os resultados esperados são:</a:t>
            </a:r>
          </a:p>
          <a:p>
            <a:pPr algn="just"/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Trazer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conscientização sobre os assuntos abordados no jogo, em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especial a autorreflexão,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consequentemente ajudando a tratar alguns dos problemas, como o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suicídio gerado pela depressão.</a:t>
            </a:r>
          </a:p>
          <a:p>
            <a:pPr algn="just"/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Aceitação do publico alvo, visto que o projeto é acessível, podendo ser acessado gratuitamente.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379276" y="24670577"/>
            <a:ext cx="11419023" cy="866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 dirty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RESULTADOS </a:t>
            </a:r>
            <a:r>
              <a:rPr lang="en-US" sz="5700" spc="1521" dirty="0" smtClean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ESPERADOS</a:t>
            </a:r>
            <a:endParaRPr lang="en-US" sz="5700" spc="1521" dirty="0">
              <a:solidFill>
                <a:srgbClr val="FFFFFF"/>
              </a:solidFill>
              <a:latin typeface="Chau Philomene"/>
              <a:ea typeface="Chau Philomene"/>
              <a:cs typeface="Chau Philomene"/>
              <a:sym typeface="Chau Philomene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4726531" y="26853974"/>
            <a:ext cx="1282709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spc="1388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REFERÊNCIAS BIBLIOGRÁFICAS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726531" y="27803231"/>
            <a:ext cx="13561818" cy="2798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Dados sobre taxa de </a:t>
            </a:r>
            <a:r>
              <a:rPr lang="pt-BR" sz="2600" dirty="0" err="1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suicidio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 e prevenção </a:t>
            </a:r>
            <a:r>
              <a:rPr lang="pt-BR" sz="2600" dirty="0" err="1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disponiveis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 em:</a:t>
            </a: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endParaRPr lang="pt-BR" sz="2600" dirty="0">
              <a:latin typeface="Arial" panose="020B0604020202020204" pitchFamily="34" charset="0"/>
              <a:cs typeface="Arial" panose="020B0604020202020204" pitchFamily="34" charset="0"/>
              <a:hlinkClick r:id="rId9"/>
            </a:endParaRP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https://agenciabrasil.ebc.com.br/saude/noticia/2024-02/fiocruz-alerta-</a:t>
            </a: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para-aumento-da-taxa-de-</a:t>
            </a:r>
            <a:r>
              <a:rPr lang="pt-BR" sz="2600" dirty="0" err="1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suicidio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-entre-</a:t>
            </a:r>
            <a:r>
              <a:rPr lang="pt-BR" sz="2600" dirty="0" err="1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crianca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-e-jovem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https://www.setembroamarelo.com/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3120"/>
              </a:lnSpc>
            </a:pPr>
            <a:endParaRPr lang="en-US" sz="2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21440430" y="14217524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</a:t>
            </a: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1: Radar </a:t>
            </a:r>
            <a:r>
              <a:rPr lang="en-US" sz="4999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Móvel</a:t>
            </a:r>
            <a:endParaRPr lang="en-US" sz="4999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21410977" y="20617605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410977" y="22417830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 2: Radar Fixo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1410977" y="24714598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38550" y="9054203"/>
            <a:ext cx="13144853" cy="377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projeto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está sendo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desenvolvido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BR" sz="3500" b="1" dirty="0" err="1">
                <a:latin typeface="Arial" panose="020B0604020202020204" pitchFamily="34" charset="0"/>
                <a:cs typeface="Arial" panose="020B0604020202020204" pitchFamily="34" charset="0"/>
              </a:rPr>
              <a:t>Gamemaker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utilizando da linguagem </a:t>
            </a:r>
            <a:r>
              <a:rPr lang="pt-BR" sz="3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GML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3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Gamemaker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Leanguage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) e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conta com combates no estilo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Hell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, também chamado de “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danmaku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Os combates, itens, diálogos e elementos do cenário foram pensados para transmitir a narrativa de modo simples e direto.</a:t>
            </a:r>
          </a:p>
          <a:p>
            <a:pPr algn="just">
              <a:lnSpc>
                <a:spcPts val="4199"/>
              </a:lnSpc>
            </a:pPr>
            <a:endParaRPr lang="en-US" sz="34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22072685" y="31562261"/>
            <a:ext cx="655488" cy="655488"/>
          </a:xfrm>
          <a:custGeom>
            <a:avLst/>
            <a:gdLst/>
            <a:ahLst/>
            <a:cxnLst/>
            <a:rect l="l" t="t" r="r" b="b"/>
            <a:pathLst>
              <a:path w="655488" h="655488">
                <a:moveTo>
                  <a:pt x="0" y="0"/>
                </a:moveTo>
                <a:lnTo>
                  <a:pt x="655488" y="0"/>
                </a:lnTo>
                <a:lnTo>
                  <a:pt x="655488" y="655488"/>
                </a:lnTo>
                <a:lnTo>
                  <a:pt x="0" y="6554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77" name="TextBox 77"/>
          <p:cNvSpPr txBox="1"/>
          <p:nvPr/>
        </p:nvSpPr>
        <p:spPr>
          <a:xfrm>
            <a:off x="349937" y="4439885"/>
            <a:ext cx="786107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3"/>
              </a:lnSpc>
              <a:spcBef>
                <a:spcPct val="0"/>
              </a:spcBef>
            </a:pPr>
            <a:r>
              <a:rPr lang="en-US" sz="3335" spc="1154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TECNOLOGIA DIGITAL E INTELIGÊNCIA ARTIFICIAL </a:t>
            </a:r>
          </a:p>
        </p:txBody>
      </p:sp>
      <p:grpSp>
        <p:nvGrpSpPr>
          <p:cNvPr id="78" name="Group 2"/>
          <p:cNvGrpSpPr/>
          <p:nvPr/>
        </p:nvGrpSpPr>
        <p:grpSpPr>
          <a:xfrm>
            <a:off x="14480782" y="14174310"/>
            <a:ext cx="6786540" cy="3839817"/>
            <a:chOff x="0" y="0"/>
            <a:chExt cx="18347583" cy="10381044"/>
          </a:xfrm>
        </p:grpSpPr>
        <p:sp>
          <p:nvSpPr>
            <p:cNvPr id="79" name="Freeform 3" descr="Resultado de imagem para radar velocidade"/>
            <p:cNvSpPr/>
            <p:nvPr/>
          </p:nvSpPr>
          <p:spPr>
            <a:xfrm>
              <a:off x="0" y="0"/>
              <a:ext cx="18347596" cy="10381107"/>
            </a:xfrm>
            <a:custGeom>
              <a:avLst/>
              <a:gdLst/>
              <a:ahLst/>
              <a:cxnLst/>
              <a:rect l="l" t="t" r="r" b="b"/>
              <a:pathLst>
                <a:path w="18347596" h="10381107">
                  <a:moveTo>
                    <a:pt x="0" y="0"/>
                  </a:moveTo>
                  <a:lnTo>
                    <a:pt x="18347596" y="0"/>
                  </a:lnTo>
                  <a:lnTo>
                    <a:pt x="18347596" y="10381107"/>
                  </a:lnTo>
                  <a:lnTo>
                    <a:pt x="0" y="10381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9665"/>
              </a:stretch>
            </a:blipFill>
          </p:spPr>
        </p:sp>
      </p:grpSp>
      <p:sp>
        <p:nvSpPr>
          <p:cNvPr id="84" name="TextBox 71"/>
          <p:cNvSpPr txBox="1"/>
          <p:nvPr/>
        </p:nvSpPr>
        <p:spPr>
          <a:xfrm>
            <a:off x="21412259" y="18277959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</a:t>
            </a: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1: Radar </a:t>
            </a:r>
            <a:r>
              <a:rPr lang="en-US" sz="4999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Móvel</a:t>
            </a:r>
            <a:endParaRPr lang="en-US" sz="4999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85" name="TextBox 72"/>
          <p:cNvSpPr txBox="1"/>
          <p:nvPr/>
        </p:nvSpPr>
        <p:spPr>
          <a:xfrm>
            <a:off x="21440430" y="16367765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311</Words>
  <Application>Microsoft Office PowerPoint</Application>
  <PresentationFormat>Personalizar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Nasalization</vt:lpstr>
      <vt:lpstr>ITC Franklin Gothic LT Semi-Bold</vt:lpstr>
      <vt:lpstr>Aptos Bold</vt:lpstr>
      <vt:lpstr>Calibri</vt:lpstr>
      <vt:lpstr>Chau Philomene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BANNERS 2026</dc:title>
  <dc:creator>GUILHERME BECKLAS MARTINEZ DE CARVALHO</dc:creator>
  <cp:lastModifiedBy>GUILHERME BECKLAS MARTINEZ DE CARVALHO</cp:lastModifiedBy>
  <cp:revision>6</cp:revision>
  <dcterms:created xsi:type="dcterms:W3CDTF">2006-08-16T00:00:00Z</dcterms:created>
  <dcterms:modified xsi:type="dcterms:W3CDTF">2026-08-25T12:35:01Z</dcterms:modified>
  <dc:identifier>DAHREV7FCzo</dc:identifier>
</cp:coreProperties>
</file>