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4" r:id="rId2"/>
  </p:sldIdLst>
  <p:sldSz cx="28800425" cy="32399288"/>
  <p:notesSz cx="6858000" cy="9144000"/>
  <p:defaultTextStyle>
    <a:defPPr>
      <a:defRPr lang="pt-BR"/>
    </a:defPPr>
    <a:lvl1pPr marL="0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1pPr>
    <a:lvl2pPr marL="1748473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2pPr>
    <a:lvl3pPr marL="3496945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3pPr>
    <a:lvl4pPr marL="5245418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4pPr>
    <a:lvl5pPr marL="6993890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5pPr>
    <a:lvl6pPr marL="8742362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6pPr>
    <a:lvl7pPr marL="10490835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7pPr>
    <a:lvl8pPr marL="12239308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8pPr>
    <a:lvl9pPr marL="13987780" algn="l" defTabSz="3496945" rtl="0" eaLnBrk="1" latinLnBrk="0" hangingPunct="1">
      <a:defRPr sz="68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61F8B3-13ED-43F5-835E-C4914527ECBA}" v="2" dt="2024-08-07T12:26:21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7015" autoAdjust="0"/>
    <p:restoredTop sz="94660"/>
  </p:normalViewPr>
  <p:slideViewPr>
    <p:cSldViewPr snapToGrid="0">
      <p:cViewPr>
        <p:scale>
          <a:sx n="33" d="100"/>
          <a:sy n="33" d="100"/>
        </p:scale>
        <p:origin x="-498" y="1170"/>
      </p:cViewPr>
      <p:guideLst>
        <p:guide orient="horz" pos="10204"/>
        <p:guide pos="90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043ata - Etec Bento Quirino" userId="1d3adede-832f-4612-b31a-78994e639dca" providerId="ADAL" clId="{9461F8B3-13ED-43F5-835E-C4914527ECBA}"/>
    <pc:docChg chg="undo custSel modSld">
      <pc:chgData name="e043ata - Etec Bento Quirino" userId="1d3adede-832f-4612-b31a-78994e639dca" providerId="ADAL" clId="{9461F8B3-13ED-43F5-835E-C4914527ECBA}" dt="2024-08-07T12:26:21.788" v="97"/>
      <pc:docMkLst>
        <pc:docMk/>
      </pc:docMkLst>
      <pc:sldChg chg="addSp delSp modSp mod">
        <pc:chgData name="e043ata - Etec Bento Quirino" userId="1d3adede-832f-4612-b31a-78994e639dca" providerId="ADAL" clId="{9461F8B3-13ED-43F5-835E-C4914527ECBA}" dt="2024-08-07T12:26:21.788" v="97"/>
        <pc:sldMkLst>
          <pc:docMk/>
          <pc:sldMk cId="2909438272" sldId="264"/>
        </pc:sldMkLst>
        <pc:spChg chg="mod">
          <ac:chgData name="e043ata - Etec Bento Quirino" userId="1d3adede-832f-4612-b31a-78994e639dca" providerId="ADAL" clId="{9461F8B3-13ED-43F5-835E-C4914527ECBA}" dt="2024-08-07T12:25:18.171" v="73" actId="208"/>
          <ac:spMkLst>
            <pc:docMk/>
            <pc:sldMk cId="2909438272" sldId="264"/>
            <ac:spMk id="2" creationId="{00000000-0000-0000-0000-000000000000}"/>
          </ac:spMkLst>
        </pc:spChg>
        <pc:spChg chg="mod">
          <ac:chgData name="e043ata - Etec Bento Quirino" userId="1d3adede-832f-4612-b31a-78994e639dca" providerId="ADAL" clId="{9461F8B3-13ED-43F5-835E-C4914527ECBA}" dt="2024-08-07T12:23:00.568" v="5" actId="14100"/>
          <ac:spMkLst>
            <pc:docMk/>
            <pc:sldMk cId="2909438272" sldId="264"/>
            <ac:spMk id="5" creationId="{00000000-0000-0000-0000-000000000000}"/>
          </ac:spMkLst>
        </pc:spChg>
        <pc:spChg chg="mod">
          <ac:chgData name="e043ata - Etec Bento Quirino" userId="1d3adede-832f-4612-b31a-78994e639dca" providerId="ADAL" clId="{9461F8B3-13ED-43F5-835E-C4914527ECBA}" dt="2024-08-07T12:25:43.553" v="88" actId="207"/>
          <ac:spMkLst>
            <pc:docMk/>
            <pc:sldMk cId="2909438272" sldId="264"/>
            <ac:spMk id="6" creationId="{00000000-0000-0000-0000-000000000000}"/>
          </ac:spMkLst>
        </pc:spChg>
        <pc:spChg chg="mod">
          <ac:chgData name="e043ata - Etec Bento Quirino" userId="1d3adede-832f-4612-b31a-78994e639dca" providerId="ADAL" clId="{9461F8B3-13ED-43F5-835E-C4914527ECBA}" dt="2024-08-07T12:25:53.800" v="93" actId="208"/>
          <ac:spMkLst>
            <pc:docMk/>
            <pc:sldMk cId="2909438272" sldId="264"/>
            <ac:spMk id="7" creationId="{00000000-0000-0000-0000-000000000000}"/>
          </ac:spMkLst>
        </pc:spChg>
        <pc:spChg chg="mod">
          <ac:chgData name="e043ata - Etec Bento Quirino" userId="1d3adede-832f-4612-b31a-78994e639dca" providerId="ADAL" clId="{9461F8B3-13ED-43F5-835E-C4914527ECBA}" dt="2024-08-07T12:23:04.721" v="7" actId="1035"/>
          <ac:spMkLst>
            <pc:docMk/>
            <pc:sldMk cId="2909438272" sldId="264"/>
            <ac:spMk id="11" creationId="{4D507378-EAF9-412B-857B-5E786B39B35F}"/>
          </ac:spMkLst>
        </pc:spChg>
        <pc:spChg chg="add mod">
          <ac:chgData name="e043ata - Etec Bento Quirino" userId="1d3adede-832f-4612-b31a-78994e639dca" providerId="ADAL" clId="{9461F8B3-13ED-43F5-835E-C4914527ECBA}" dt="2024-08-07T12:26:15.360" v="96" actId="1035"/>
          <ac:spMkLst>
            <pc:docMk/>
            <pc:sldMk cId="2909438272" sldId="264"/>
            <ac:spMk id="12" creationId="{1EE55402-6F45-ED66-7D51-5E6D09985D51}"/>
          </ac:spMkLst>
        </pc:spChg>
        <pc:spChg chg="mod">
          <ac:chgData name="e043ata - Etec Bento Quirino" userId="1d3adede-832f-4612-b31a-78994e639dca" providerId="ADAL" clId="{9461F8B3-13ED-43F5-835E-C4914527ECBA}" dt="2024-08-07T12:25:01.906" v="71" actId="207"/>
          <ac:spMkLst>
            <pc:docMk/>
            <pc:sldMk cId="2909438272" sldId="264"/>
            <ac:spMk id="13" creationId="{00000000-0000-0000-0000-000000000000}"/>
          </ac:spMkLst>
        </pc:spChg>
        <pc:spChg chg="mod">
          <ac:chgData name="e043ata - Etec Bento Quirino" userId="1d3adede-832f-4612-b31a-78994e639dca" providerId="ADAL" clId="{9461F8B3-13ED-43F5-835E-C4914527ECBA}" dt="2024-08-07T12:24:45.154" v="70" actId="2085"/>
          <ac:spMkLst>
            <pc:docMk/>
            <pc:sldMk cId="2909438272" sldId="264"/>
            <ac:spMk id="14" creationId="{10997A6D-77F8-4235-8AFF-24C3F4C0A6DA}"/>
          </ac:spMkLst>
        </pc:spChg>
        <pc:spChg chg="mod">
          <ac:chgData name="e043ata - Etec Bento Quirino" userId="1d3adede-832f-4612-b31a-78994e639dca" providerId="ADAL" clId="{9461F8B3-13ED-43F5-835E-C4914527ECBA}" dt="2024-08-07T12:25:21.487" v="75" actId="208"/>
          <ac:spMkLst>
            <pc:docMk/>
            <pc:sldMk cId="2909438272" sldId="264"/>
            <ac:spMk id="32" creationId="{00000000-0000-0000-0000-000000000000}"/>
          </ac:spMkLst>
        </pc:spChg>
        <pc:spChg chg="mod">
          <ac:chgData name="e043ata - Etec Bento Quirino" userId="1d3adede-832f-4612-b31a-78994e639dca" providerId="ADAL" clId="{9461F8B3-13ED-43F5-835E-C4914527ECBA}" dt="2024-08-07T12:25:45.951" v="89" actId="207"/>
          <ac:spMkLst>
            <pc:docMk/>
            <pc:sldMk cId="2909438272" sldId="264"/>
            <ac:spMk id="34" creationId="{00000000-0000-0000-0000-000000000000}"/>
          </ac:spMkLst>
        </pc:spChg>
        <pc:spChg chg="mod">
          <ac:chgData name="e043ata - Etec Bento Quirino" userId="1d3adede-832f-4612-b31a-78994e639dca" providerId="ADAL" clId="{9461F8B3-13ED-43F5-835E-C4914527ECBA}" dt="2024-08-07T12:25:24.269" v="77" actId="208"/>
          <ac:spMkLst>
            <pc:docMk/>
            <pc:sldMk cId="2909438272" sldId="264"/>
            <ac:spMk id="35" creationId="{00000000-0000-0000-0000-000000000000}"/>
          </ac:spMkLst>
        </pc:spChg>
        <pc:spChg chg="mod">
          <ac:chgData name="e043ata - Etec Bento Quirino" userId="1d3adede-832f-4612-b31a-78994e639dca" providerId="ADAL" clId="{9461F8B3-13ED-43F5-835E-C4914527ECBA}" dt="2024-08-07T12:25:37.790" v="86" actId="207"/>
          <ac:spMkLst>
            <pc:docMk/>
            <pc:sldMk cId="2909438272" sldId="264"/>
            <ac:spMk id="36" creationId="{00000000-0000-0000-0000-000000000000}"/>
          </ac:spMkLst>
        </pc:spChg>
        <pc:spChg chg="mod">
          <ac:chgData name="e043ata - Etec Bento Quirino" userId="1d3adede-832f-4612-b31a-78994e639dca" providerId="ADAL" clId="{9461F8B3-13ED-43F5-835E-C4914527ECBA}" dt="2024-08-07T12:25:26.599" v="79" actId="208"/>
          <ac:spMkLst>
            <pc:docMk/>
            <pc:sldMk cId="2909438272" sldId="264"/>
            <ac:spMk id="37" creationId="{00000000-0000-0000-0000-000000000000}"/>
          </ac:spMkLst>
        </pc:spChg>
        <pc:spChg chg="mod">
          <ac:chgData name="e043ata - Etec Bento Quirino" userId="1d3adede-832f-4612-b31a-78994e639dca" providerId="ADAL" clId="{9461F8B3-13ED-43F5-835E-C4914527ECBA}" dt="2024-08-07T12:25:41.003" v="87" actId="207"/>
          <ac:spMkLst>
            <pc:docMk/>
            <pc:sldMk cId="2909438272" sldId="264"/>
            <ac:spMk id="38" creationId="{00000000-0000-0000-0000-000000000000}"/>
          </ac:spMkLst>
        </pc:spChg>
        <pc:spChg chg="mod">
          <ac:chgData name="e043ata - Etec Bento Quirino" userId="1d3adede-832f-4612-b31a-78994e639dca" providerId="ADAL" clId="{9461F8B3-13ED-43F5-835E-C4914527ECBA}" dt="2024-08-07T12:25:29.233" v="81" actId="208"/>
          <ac:spMkLst>
            <pc:docMk/>
            <pc:sldMk cId="2909438272" sldId="264"/>
            <ac:spMk id="39" creationId="{00000000-0000-0000-0000-000000000000}"/>
          </ac:spMkLst>
        </pc:spChg>
        <pc:spChg chg="mod">
          <ac:chgData name="e043ata - Etec Bento Quirino" userId="1d3adede-832f-4612-b31a-78994e639dca" providerId="ADAL" clId="{9461F8B3-13ED-43F5-835E-C4914527ECBA}" dt="2024-08-07T12:25:35.619" v="85" actId="207"/>
          <ac:spMkLst>
            <pc:docMk/>
            <pc:sldMk cId="2909438272" sldId="264"/>
            <ac:spMk id="40" creationId="{00000000-0000-0000-0000-000000000000}"/>
          </ac:spMkLst>
        </pc:spChg>
        <pc:spChg chg="mod">
          <ac:chgData name="e043ata - Etec Bento Quirino" userId="1d3adede-832f-4612-b31a-78994e639dca" providerId="ADAL" clId="{9461F8B3-13ED-43F5-835E-C4914527ECBA}" dt="2024-08-07T12:23:12.843" v="9" actId="208"/>
          <ac:spMkLst>
            <pc:docMk/>
            <pc:sldMk cId="2909438272" sldId="264"/>
            <ac:spMk id="42" creationId="{00000000-0000-0000-0000-000000000000}"/>
          </ac:spMkLst>
        </pc:spChg>
        <pc:spChg chg="mod">
          <ac:chgData name="e043ata - Etec Bento Quirino" userId="1d3adede-832f-4612-b31a-78994e639dca" providerId="ADAL" clId="{9461F8B3-13ED-43F5-835E-C4914527ECBA}" dt="2024-08-07T12:23:15.637" v="10" actId="207"/>
          <ac:spMkLst>
            <pc:docMk/>
            <pc:sldMk cId="2909438272" sldId="264"/>
            <ac:spMk id="43" creationId="{00000000-0000-0000-0000-000000000000}"/>
          </ac:spMkLst>
        </pc:spChg>
        <pc:picChg chg="del">
          <ac:chgData name="e043ata - Etec Bento Quirino" userId="1d3adede-832f-4612-b31a-78994e639dca" providerId="ADAL" clId="{9461F8B3-13ED-43F5-835E-C4914527ECBA}" dt="2024-08-07T12:25:56.464" v="94" actId="478"/>
          <ac:picMkLst>
            <pc:docMk/>
            <pc:sldMk cId="2909438272" sldId="264"/>
            <ac:picMk id="4" creationId="{00000000-0000-0000-0000-000000000000}"/>
          </ac:picMkLst>
        </pc:picChg>
        <pc:picChg chg="add mod">
          <ac:chgData name="e043ata - Etec Bento Quirino" userId="1d3adede-832f-4612-b31a-78994e639dca" providerId="ADAL" clId="{9461F8B3-13ED-43F5-835E-C4914527ECBA}" dt="2024-08-07T12:26:15.360" v="96" actId="1035"/>
          <ac:picMkLst>
            <pc:docMk/>
            <pc:sldMk cId="2909438272" sldId="264"/>
            <ac:picMk id="8" creationId="{CA858D27-63D4-920B-983F-0BEC23DF6A08}"/>
          </ac:picMkLst>
        </pc:picChg>
        <pc:picChg chg="del">
          <ac:chgData name="e043ata - Etec Bento Quirino" userId="1d3adede-832f-4612-b31a-78994e639dca" providerId="ADAL" clId="{9461F8B3-13ED-43F5-835E-C4914527ECBA}" dt="2024-08-07T12:22:39.232" v="0" actId="478"/>
          <ac:picMkLst>
            <pc:docMk/>
            <pc:sldMk cId="2909438272" sldId="264"/>
            <ac:picMk id="9" creationId="{00000000-0000-0000-0000-000000000000}"/>
          </ac:picMkLst>
        </pc:picChg>
        <pc:picChg chg="add mod">
          <ac:chgData name="e043ata - Etec Bento Quirino" userId="1d3adede-832f-4612-b31a-78994e639dca" providerId="ADAL" clId="{9461F8B3-13ED-43F5-835E-C4914527ECBA}" dt="2024-08-07T12:26:21.788" v="97"/>
          <ac:picMkLst>
            <pc:docMk/>
            <pc:sldMk cId="2909438272" sldId="264"/>
            <ac:picMk id="15" creationId="{F3AF078B-224E-223C-6374-34B93515E1E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5302386"/>
            <a:ext cx="24480361" cy="11279752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17017128"/>
            <a:ext cx="21600319" cy="7822326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pPr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45259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pPr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265487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8077332"/>
            <a:ext cx="24840367" cy="13477201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21682033"/>
            <a:ext cx="24840367" cy="7087342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/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pPr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60572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8624810"/>
            <a:ext cx="12240181" cy="2055705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8624810"/>
            <a:ext cx="12240181" cy="2055705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pPr/>
              <a:t>01/09/2025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98638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724969"/>
            <a:ext cx="24840367" cy="626236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7942328"/>
            <a:ext cx="12183928" cy="3892412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1834740"/>
            <a:ext cx="12183928" cy="1740712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7942328"/>
            <a:ext cx="12243932" cy="3892412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1834740"/>
            <a:ext cx="12243932" cy="1740712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pPr/>
              <a:t>01/09/2025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8967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pPr/>
              <a:t>01/09/2025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638173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pPr/>
              <a:t>01/09/2025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30196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159952"/>
            <a:ext cx="9288887" cy="7559834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4664905"/>
            <a:ext cx="14580215" cy="23024494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9719786"/>
            <a:ext cx="9288887" cy="18007107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pPr/>
              <a:t>01/09/2025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88090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159952"/>
            <a:ext cx="9288887" cy="7559834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4664905"/>
            <a:ext cx="14580215" cy="23024494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9719786"/>
            <a:ext cx="9288887" cy="18007107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pPr/>
              <a:t>01/09/2025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58291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pPr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972450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1724962"/>
            <a:ext cx="6210092" cy="2745689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1724962"/>
            <a:ext cx="18270270" cy="27456899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C5B94-B869-47F2-99CE-837CDC999CA5}" type="datetimeFigureOut">
              <a:rPr lang="pt-BR" smtClean="0"/>
              <a:pPr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D756-415C-4419-BDE9-730212C47C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417402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1724969"/>
            <a:ext cx="24840367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8624810"/>
            <a:ext cx="24840367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30029347"/>
            <a:ext cx="6480096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C5B94-B869-47F2-99CE-837CDC999CA5}" type="datetimeFigureOut">
              <a:rPr lang="pt-BR" smtClean="0"/>
              <a:pPr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30029347"/>
            <a:ext cx="972014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30029347"/>
            <a:ext cx="6480096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BD756-415C-4419-BDE9-730212C47C3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045443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setembroamarelo.com/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agenciabrasil.ebc.com.br/saude/noticia/2024-02/fiocruz-alerta-para-aumento-da-taxa-de-suicidio-entre-crianca-e-jove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aralelogramo 13">
            <a:extLst>
              <a:ext uri="{FF2B5EF4-FFF2-40B4-BE49-F238E27FC236}">
                <a16:creationId xmlns:a16="http://schemas.microsoft.com/office/drawing/2014/main" xmlns="" id="{10997A6D-77F8-4235-8AFF-24C3F4C0A6DA}"/>
              </a:ext>
            </a:extLst>
          </p:cNvPr>
          <p:cNvSpPr/>
          <p:nvPr/>
        </p:nvSpPr>
        <p:spPr>
          <a:xfrm>
            <a:off x="1778564" y="5881028"/>
            <a:ext cx="25236763" cy="2364546"/>
          </a:xfrm>
          <a:prstGeom prst="parallelogram">
            <a:avLst/>
          </a:prstGeom>
          <a:gradFill>
            <a:gsLst>
              <a:gs pos="32000">
                <a:schemeClr val="accent6">
                  <a:lumMod val="0"/>
                  <a:lumOff val="100000"/>
                </a:schemeClr>
              </a:gs>
              <a:gs pos="93000">
                <a:schemeClr val="accent1">
                  <a:lumMod val="5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/>
          </a:p>
        </p:txBody>
      </p:sp>
      <p:sp>
        <p:nvSpPr>
          <p:cNvPr id="33" name="Retângulo 32"/>
          <p:cNvSpPr/>
          <p:nvPr/>
        </p:nvSpPr>
        <p:spPr>
          <a:xfrm>
            <a:off x="-55187" y="5881028"/>
            <a:ext cx="28800425" cy="263190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/>
          </a:p>
        </p:txBody>
      </p:sp>
      <p:sp>
        <p:nvSpPr>
          <p:cNvPr id="13" name="CaixaDeTexto 12"/>
          <p:cNvSpPr txBox="1"/>
          <p:nvPr/>
        </p:nvSpPr>
        <p:spPr>
          <a:xfrm>
            <a:off x="55187" y="6203118"/>
            <a:ext cx="28786628" cy="1733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333" dirty="0">
                <a:latin typeface="Arial" panose="020B0604020202020204" pitchFamily="34" charset="0"/>
                <a:cs typeface="Arial" panose="020B0604020202020204" pitchFamily="34" charset="0"/>
              </a:rPr>
              <a:t>Integrantes: Willian Fagundes, Beatriz </a:t>
            </a:r>
            <a:r>
              <a:rPr lang="pt-BR" sz="5333" dirty="0" err="1">
                <a:latin typeface="Arial" panose="020B0604020202020204" pitchFamily="34" charset="0"/>
                <a:cs typeface="Arial" panose="020B0604020202020204" pitchFamily="34" charset="0"/>
              </a:rPr>
              <a:t>Scarpato</a:t>
            </a:r>
            <a:r>
              <a:rPr lang="pt-BR" sz="5333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5333" dirty="0" err="1">
                <a:latin typeface="Arial" panose="020B0604020202020204" pitchFamily="34" charset="0"/>
                <a:cs typeface="Arial" panose="020B0604020202020204" pitchFamily="34" charset="0"/>
              </a:rPr>
              <a:t>Izabela</a:t>
            </a:r>
            <a:r>
              <a:rPr lang="pt-BR" sz="5333" dirty="0">
                <a:latin typeface="Arial" panose="020B0604020202020204" pitchFamily="34" charset="0"/>
                <a:cs typeface="Arial" panose="020B0604020202020204" pitchFamily="34" charset="0"/>
              </a:rPr>
              <a:t> Santos  –2º Integrado Eletrônica</a:t>
            </a:r>
          </a:p>
          <a:p>
            <a:pPr algn="ctr"/>
            <a:r>
              <a:rPr lang="pt-BR" sz="5333" dirty="0">
                <a:latin typeface="Arial" panose="020B0604020202020204" pitchFamily="34" charset="0"/>
                <a:cs typeface="Arial" panose="020B0604020202020204" pitchFamily="34" charset="0"/>
              </a:rPr>
              <a:t>Orientadores: Profs. Ricardo Rosa e Tiago Souza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171033" y="10372003"/>
            <a:ext cx="14241055" cy="5017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Estudos apontam que os grupos mais afetados pela </a:t>
            </a:r>
            <a:r>
              <a:rPr lang="pt-BR" sz="3556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depressao</a:t>
            </a:r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 atualmente são adolescentes e jovens adultos entre 13 e 20 anos, e que a maior parte do publico que joga </a:t>
            </a:r>
            <a:r>
              <a:rPr lang="pt-BR" sz="3556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vidoegame</a:t>
            </a:r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 tem entre 14 e 29 anos;</a:t>
            </a:r>
          </a:p>
          <a:p>
            <a:pPr algn="just"/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O projeto </a:t>
            </a:r>
            <a:r>
              <a:rPr lang="pt-BR" sz="3556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Castaway</a:t>
            </a:r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 é um RPG de turno inspirado em outros jogos do mesmo gênero, como </a:t>
            </a:r>
            <a:r>
              <a:rPr lang="pt-BR" sz="3556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Undertale</a:t>
            </a:r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, que aborda temas como superação da depressão, auto-reflexão e suicídio, na intenção de trazer conscientização sobre estes assuntos através dos elementos narrativos do jogo</a:t>
            </a:r>
            <a:endParaRPr lang="pt-BR" sz="355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14614558" y="10331354"/>
            <a:ext cx="14241055" cy="337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56" dirty="0">
                <a:latin typeface="Arial" panose="020B0604020202020204" pitchFamily="34" charset="0"/>
                <a:cs typeface="Arial" panose="020B0604020202020204" pitchFamily="34" charset="0"/>
              </a:rPr>
              <a:t>O objetivo </a:t>
            </a:r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é fazer com que o jogador se identifique com o protagonista do jogo, seus problemas e medos, que são comuns no jovem moderno;</a:t>
            </a:r>
          </a:p>
          <a:p>
            <a:pPr algn="just"/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E, ao identificar-se, fazer o jogador refletir sobre seus próprios problemas e inseguranças, perceber se necessita de alguma ajuda psicológica e buscá-la.</a:t>
            </a:r>
            <a:endParaRPr lang="pt-BR" sz="355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68984" y="17208540"/>
            <a:ext cx="14241055" cy="2828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56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jogo está sendo produzido em </a:t>
            </a:r>
            <a:r>
              <a:rPr lang="pt-BR" sz="3556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Gamemaker</a:t>
            </a:r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 e conta com combates no estilo </a:t>
            </a:r>
            <a:r>
              <a:rPr lang="pt-BR" sz="3556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556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Hell</a:t>
            </a:r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, também chamado de “</a:t>
            </a:r>
            <a:r>
              <a:rPr lang="pt-BR" sz="3556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danmaku</a:t>
            </a:r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”;</a:t>
            </a:r>
          </a:p>
          <a:p>
            <a:pPr algn="just"/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Os combates, itens, diálogos e elementos do cenário foram pensados para transmitir a narrativa de modo simples e direto.</a:t>
            </a:r>
          </a:p>
          <a:p>
            <a:pPr algn="just"/>
            <a:endParaRPr lang="pt-BR" sz="355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14504182" y="17256085"/>
            <a:ext cx="14241055" cy="1733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Trazer conscientização sobre os assuntos abordados no jogo, em especial a auto-reflexão, </a:t>
            </a:r>
            <a:r>
              <a:rPr lang="pt-BR" sz="3556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consequentemente</a:t>
            </a:r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 ajudando a tratar alguns dos problemas, como o suicídio</a:t>
            </a:r>
            <a:r>
              <a:rPr lang="pt-BR" sz="3556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355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8464953" y="868494"/>
            <a:ext cx="18871918" cy="3511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111" b="1" dirty="0">
                <a:latin typeface="Arial" panose="020B0604020202020204" pitchFamily="34" charset="0"/>
                <a:cs typeface="Arial" panose="020B0604020202020204" pitchFamily="34" charset="0"/>
              </a:rPr>
              <a:t>Radar de Velocidade com Arduino</a:t>
            </a:r>
          </a:p>
        </p:txBody>
      </p:sp>
      <p:sp>
        <p:nvSpPr>
          <p:cNvPr id="11" name="Triângulo isósceles 10">
            <a:extLst>
              <a:ext uri="{FF2B5EF4-FFF2-40B4-BE49-F238E27FC236}">
                <a16:creationId xmlns:a16="http://schemas.microsoft.com/office/drawing/2014/main" xmlns="" id="{4D507378-EAF9-412B-857B-5E786B39B35F}"/>
              </a:ext>
            </a:extLst>
          </p:cNvPr>
          <p:cNvSpPr/>
          <p:nvPr/>
        </p:nvSpPr>
        <p:spPr>
          <a:xfrm rot="5400000">
            <a:off x="1632208" y="-1636031"/>
            <a:ext cx="4047916" cy="7526945"/>
          </a:xfrm>
          <a:prstGeom prst="triangle">
            <a:avLst>
              <a:gd name="adj" fmla="val 4882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/>
          </a:p>
        </p:txBody>
      </p:sp>
      <p:sp>
        <p:nvSpPr>
          <p:cNvPr id="5" name="Retângulo 4"/>
          <p:cNvSpPr/>
          <p:nvPr/>
        </p:nvSpPr>
        <p:spPr>
          <a:xfrm>
            <a:off x="-107307" y="1"/>
            <a:ext cx="28894886" cy="323992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/>
          </a:p>
        </p:txBody>
      </p:sp>
      <p:sp>
        <p:nvSpPr>
          <p:cNvPr id="7" name="Triângulo retângulo 6"/>
          <p:cNvSpPr/>
          <p:nvPr/>
        </p:nvSpPr>
        <p:spPr>
          <a:xfrm rot="16200000">
            <a:off x="23907672" y="27580753"/>
            <a:ext cx="4269102" cy="5426989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/>
          </a:p>
        </p:txBody>
      </p:sp>
      <p:sp>
        <p:nvSpPr>
          <p:cNvPr id="2" name="Retângulo de cantos arredondados 1"/>
          <p:cNvSpPr/>
          <p:nvPr/>
        </p:nvSpPr>
        <p:spPr>
          <a:xfrm>
            <a:off x="3575" y="8527905"/>
            <a:ext cx="14182293" cy="95190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 dirty="0"/>
          </a:p>
        </p:txBody>
      </p:sp>
      <p:sp>
        <p:nvSpPr>
          <p:cNvPr id="6" name="CaixaDeTexto 5"/>
          <p:cNvSpPr txBox="1"/>
          <p:nvPr/>
        </p:nvSpPr>
        <p:spPr>
          <a:xfrm>
            <a:off x="309109" y="8529923"/>
            <a:ext cx="3874542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333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RESUMO</a:t>
            </a:r>
          </a:p>
        </p:txBody>
      </p:sp>
      <p:sp>
        <p:nvSpPr>
          <p:cNvPr id="32" name="Retângulo de cantos arredondados 31"/>
          <p:cNvSpPr/>
          <p:nvPr/>
        </p:nvSpPr>
        <p:spPr>
          <a:xfrm>
            <a:off x="14539215" y="8524745"/>
            <a:ext cx="14182293" cy="95190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/>
          </a:p>
        </p:txBody>
      </p:sp>
      <p:sp>
        <p:nvSpPr>
          <p:cNvPr id="34" name="CaixaDeTexto 33"/>
          <p:cNvSpPr txBox="1"/>
          <p:nvPr/>
        </p:nvSpPr>
        <p:spPr>
          <a:xfrm>
            <a:off x="14903511" y="8607238"/>
            <a:ext cx="3874542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333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</a:p>
        </p:txBody>
      </p:sp>
      <p:sp>
        <p:nvSpPr>
          <p:cNvPr id="35" name="Retângulo de cantos arredondados 34"/>
          <p:cNvSpPr/>
          <p:nvPr/>
        </p:nvSpPr>
        <p:spPr>
          <a:xfrm>
            <a:off x="7373" y="16117381"/>
            <a:ext cx="14182293" cy="95190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/>
          </a:p>
        </p:txBody>
      </p:sp>
      <p:sp>
        <p:nvSpPr>
          <p:cNvPr id="36" name="CaixaDeTexto 35"/>
          <p:cNvSpPr txBox="1"/>
          <p:nvPr/>
        </p:nvSpPr>
        <p:spPr>
          <a:xfrm>
            <a:off x="360720" y="16119400"/>
            <a:ext cx="5998477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333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</a:p>
        </p:txBody>
      </p:sp>
      <p:sp>
        <p:nvSpPr>
          <p:cNvPr id="37" name="Retângulo de cantos arredondados 36"/>
          <p:cNvSpPr/>
          <p:nvPr/>
        </p:nvSpPr>
        <p:spPr>
          <a:xfrm>
            <a:off x="14543012" y="16117381"/>
            <a:ext cx="14182293" cy="95190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 dirty="0"/>
          </a:p>
        </p:txBody>
      </p:sp>
      <p:sp>
        <p:nvSpPr>
          <p:cNvPr id="38" name="CaixaDeTexto 37"/>
          <p:cNvSpPr txBox="1"/>
          <p:nvPr/>
        </p:nvSpPr>
        <p:spPr>
          <a:xfrm>
            <a:off x="14896358" y="16119400"/>
            <a:ext cx="9871045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333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 ESPERADOS</a:t>
            </a:r>
          </a:p>
        </p:txBody>
      </p:sp>
      <p:sp>
        <p:nvSpPr>
          <p:cNvPr id="39" name="Retângulo de cantos arredondados 38"/>
          <p:cNvSpPr/>
          <p:nvPr/>
        </p:nvSpPr>
        <p:spPr>
          <a:xfrm>
            <a:off x="-6992" y="21555513"/>
            <a:ext cx="14182293" cy="95190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 dirty="0"/>
          </a:p>
        </p:txBody>
      </p:sp>
      <p:sp>
        <p:nvSpPr>
          <p:cNvPr id="40" name="CaixaDeTexto 39"/>
          <p:cNvSpPr txBox="1"/>
          <p:nvPr/>
        </p:nvSpPr>
        <p:spPr>
          <a:xfrm>
            <a:off x="93403" y="21597309"/>
            <a:ext cx="11256995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333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REFERÊNCIAS BIBLIOGRÁFICAS</a:t>
            </a:r>
          </a:p>
        </p:txBody>
      </p:sp>
      <p:sp>
        <p:nvSpPr>
          <p:cNvPr id="42" name="Elipse 41"/>
          <p:cNvSpPr/>
          <p:nvPr/>
        </p:nvSpPr>
        <p:spPr>
          <a:xfrm>
            <a:off x="26906135" y="3944052"/>
            <a:ext cx="1785098" cy="178509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119"/>
          </a:p>
        </p:txBody>
      </p:sp>
      <p:sp>
        <p:nvSpPr>
          <p:cNvPr id="43" name="CaixaDeTexto 42"/>
          <p:cNvSpPr txBox="1"/>
          <p:nvPr/>
        </p:nvSpPr>
        <p:spPr>
          <a:xfrm>
            <a:off x="27239112" y="4187791"/>
            <a:ext cx="1452122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8000" b="1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103970" y="22607368"/>
            <a:ext cx="14241055" cy="4032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20000"/>
              </a:lnSpc>
              <a:buClr>
                <a:schemeClr val="dk1"/>
              </a:buClr>
              <a:buSzPts val="1100"/>
            </a:pPr>
            <a:r>
              <a:rPr lang="pt-BR" sz="3556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Dados sobre taxa de </a:t>
            </a:r>
            <a:r>
              <a:rPr lang="pt-BR" sz="3556" dirty="0" err="1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suicidio</a:t>
            </a:r>
            <a:r>
              <a:rPr lang="pt-BR" sz="3556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 e prevenção </a:t>
            </a:r>
            <a:r>
              <a:rPr lang="pt-BR" sz="3556" dirty="0" err="1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disponiveis</a:t>
            </a:r>
            <a:r>
              <a:rPr lang="pt-BR" sz="3556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 em:</a:t>
            </a:r>
          </a:p>
          <a:p>
            <a:pPr lvl="0" algn="just">
              <a:lnSpc>
                <a:spcPct val="120000"/>
              </a:lnSpc>
              <a:buClr>
                <a:schemeClr val="dk1"/>
              </a:buClr>
              <a:buSzPts val="1100"/>
            </a:pPr>
            <a:endParaRPr lang="pt-BR" sz="3556" dirty="0" smtClean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hlinkClick r:id="rId2"/>
            </a:endParaRPr>
          </a:p>
          <a:p>
            <a:pPr lvl="0" algn="just">
              <a:lnSpc>
                <a:spcPct val="120000"/>
              </a:lnSpc>
              <a:buClr>
                <a:schemeClr val="dk1"/>
              </a:buClr>
              <a:buSzPts val="1100"/>
            </a:pPr>
            <a:r>
              <a:rPr lang="pt-BR" sz="3556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</a:t>
            </a:r>
            <a:r>
              <a:rPr lang="pt-BR" sz="3556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://</a:t>
            </a:r>
            <a:r>
              <a:rPr lang="pt-BR" sz="3556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agenciabrasil.ebc.com.br/saude/noticia/2024-02/fiocruz-alerta-</a:t>
            </a:r>
          </a:p>
          <a:p>
            <a:pPr lvl="0" algn="just">
              <a:lnSpc>
                <a:spcPct val="120000"/>
              </a:lnSpc>
              <a:buClr>
                <a:schemeClr val="dk1"/>
              </a:buClr>
              <a:buSzPts val="1100"/>
            </a:pPr>
            <a:r>
              <a:rPr lang="pt-BR" sz="3556" dirty="0" err="1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para-aumento-da-taxa-de-suicidio-entre-crianca-e-jovem</a:t>
            </a:r>
            <a:endParaRPr lang="pt-BR" sz="3556" dirty="0" smtClean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20000"/>
              </a:lnSpc>
              <a:buClr>
                <a:schemeClr val="dk1"/>
              </a:buClr>
              <a:buSzPts val="1100"/>
            </a:pPr>
            <a:r>
              <a:rPr lang="pt-BR" sz="3556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https://www.setembroamarelo.com</a:t>
            </a:r>
            <a:r>
              <a:rPr lang="pt-BR" sz="3556" dirty="0" smtClean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/</a:t>
            </a:r>
            <a:endParaRPr lang="pt-BR" sz="3556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20000"/>
              </a:lnSpc>
              <a:buClr>
                <a:schemeClr val="dk1"/>
              </a:buClr>
              <a:buSzPts val="1100"/>
            </a:pPr>
            <a:endParaRPr lang="pt-BR" sz="3556" dirty="0" smtClean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xmlns="" id="{CA858D27-63D4-920B-983F-0BEC23DF6A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31168" y="-355106"/>
            <a:ext cx="5256309" cy="5256309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xmlns="" id="{1EE55402-6F45-ED66-7D51-5E6D09985D51}"/>
              </a:ext>
            </a:extLst>
          </p:cNvPr>
          <p:cNvSpPr txBox="1"/>
          <p:nvPr/>
        </p:nvSpPr>
        <p:spPr>
          <a:xfrm rot="181141">
            <a:off x="853008" y="743604"/>
            <a:ext cx="26125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16ª</a:t>
            </a:r>
            <a:endParaRPr lang="pt-BR" sz="7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xmlns="" id="{F3AF078B-224E-223C-6374-34B93515E1E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386104" y="30520934"/>
            <a:ext cx="3441324" cy="1721026"/>
          </a:xfrm>
          <a:prstGeom prst="rect">
            <a:avLst/>
          </a:prstGeom>
        </p:spPr>
      </p:pic>
      <p:pic>
        <p:nvPicPr>
          <p:cNvPr id="41" name="Imagem 40" descr="castawaybanner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27930709"/>
            <a:ext cx="5972174" cy="4097104"/>
          </a:xfrm>
          <a:prstGeom prst="rect">
            <a:avLst/>
          </a:prstGeom>
        </p:spPr>
      </p:pic>
      <p:pic>
        <p:nvPicPr>
          <p:cNvPr id="44" name="Imagem 43" descr="castawaybanner2.png"/>
          <p:cNvPicPr>
            <a:picLocks noChangeAspect="1"/>
          </p:cNvPicPr>
          <p:nvPr/>
        </p:nvPicPr>
        <p:blipFill>
          <a:blip r:embed="rId7"/>
          <a:srcRect l="7257"/>
          <a:stretch>
            <a:fillRect/>
          </a:stretch>
        </p:blipFill>
        <p:spPr>
          <a:xfrm>
            <a:off x="6502400" y="27931816"/>
            <a:ext cx="6863444" cy="4092822"/>
          </a:xfrm>
          <a:prstGeom prst="rect">
            <a:avLst/>
          </a:prstGeom>
        </p:spPr>
      </p:pic>
      <p:pic>
        <p:nvPicPr>
          <p:cNvPr id="45" name="Imagem 44" descr="cstwaay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25800" y="20223284"/>
            <a:ext cx="11317107" cy="853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094382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444</TotalTime>
  <Words>262</Words>
  <Application>Microsoft Office PowerPoint</Application>
  <PresentationFormat>Personalizar</PresentationFormat>
  <Paragraphs>22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</dc:creator>
  <cp:lastModifiedBy>Guilherme Becklas martinez de carvalho</cp:lastModifiedBy>
  <cp:revision>56</cp:revision>
  <dcterms:created xsi:type="dcterms:W3CDTF">2017-07-11T16:55:04Z</dcterms:created>
  <dcterms:modified xsi:type="dcterms:W3CDTF">2025-09-01T21:31:47Z</dcterms:modified>
</cp:coreProperties>
</file>